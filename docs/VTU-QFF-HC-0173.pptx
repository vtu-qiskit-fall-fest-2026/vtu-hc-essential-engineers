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3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20" Type="http://schemas.openxmlformats.org/officeDocument/2006/relationships/image" Target="../media/image8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Relationship Id="rId20" Type="http://schemas.openxmlformats.org/officeDocument/2006/relationships/image" Target="../media/image9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Nirikshak: Drift-Robust Eavesdropper Detection for BB84 QKD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Quantum Cryptography &amp; Security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Engineers · HC-0173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Bhuvanesh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github.com/Bhuvan-esh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530352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Bhuvanesh (Lead)  ·  Dipankar Chettri  ·  Anusha A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675888"/>
            <a:ext cx="2286000" cy="77724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Shridevi Institute of Engineering and Technology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675888"/>
            <a:ext cx="2286000" cy="77724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1" name="Content text"/>
          <p:cNvSpPr txBox="1"/>
          <p:nvPr/>
        </p:nvSpPr>
        <p:spPr>
          <a:xfrm>
            <a:off x="731520" y="1874520"/>
            <a:ext cx="7680960" cy="2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Eavesdropper detectors for QKD are trained and tested almost entirely in simulation. Nobody has measured whether they can tell normal hardware drift from a real attack on real quantum hardware, so deployed QKD links risk false alarms that discard valid keys, or eavesdroppers who go undetected.</a:t>
            </a:r>
            <a:endParaRPr lang="en-US" sz="1200" dirty="0"/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  <a:p>
            <a:pPr marL="150000" indent="-150000" algn="l">
              <a:spcBef>
                <a:spcPts val="0"/>
              </a:spcBef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11% rule is not an attack detector. </a:t>
            </a:r>
            <a:r>
              <a:rPr lang="en-US" sz="11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security proof’s limit for distilling any secret key (Shor-Preskill). Intercepting 10% of rounds adds only about 2.5% QBER, so the operator never learns the link is tapped, cannot locate it, and cannot tell an attack from drift.</a:t>
            </a:r>
            <a:endParaRPr lang="en-US" sz="1100" dirty="0"/>
          </a:p>
          <a:p>
            <a:pPr marL="150000" indent="-150000" algn="l">
              <a:spcBef>
                <a:spcPts val="0"/>
              </a:spcBef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devices drift. </a:t>
            </a:r>
            <a:r>
              <a:rPr lang="en-US" sz="11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aging and recalibration shift the noise; simulation-trained QKD detectors degrade sharply under shifted conditions (arXiv 2610.25203, arXiv 2605.27497).</a:t>
            </a:r>
            <a:endParaRPr lang="en-US" sz="1100" dirty="0"/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QKD rollout is accelerating: </a:t>
            </a:r>
            <a:r>
              <a:rPr lang="en-US" sz="11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1,000 km National Quantum Mission network, C-DOT QKD products, DRDO field and live-network trials, while ANSSI, BSI, NLNCSA and Swedish NCSA say QKD is not yet mature from a security perspective.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02" name="Objectives"/>
          <p:cNvSpPr txBox="1"/>
          <p:nvPr/>
        </p:nvSpPr>
        <p:spPr>
          <a:xfrm>
            <a:off x="731520" y="1874520"/>
            <a:ext cx="3550000" cy="2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  <a:p>
            <a:pPr marL="150000" indent="-150000" algn="l">
              <a:spcBef>
                <a:spcPts val="0"/>
              </a:spcBef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honest BB84 sessions and qubit-level attacks on IBM Quantum hardware.</a:t>
            </a:r>
            <a:endParaRPr lang="en-US" sz="1200" dirty="0"/>
          </a:p>
          <a:p>
            <a:pPr marL="150000" indent="-150000" algn="l">
              <a:spcBef>
                <a:spcPts val="0"/>
              </a:spcBef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simulation-trained detectors (11% rule, sim-calibrated threshold, Random Forest, XGBoost) on hardware data.</a:t>
            </a:r>
            <a:endParaRPr lang="en-US" sz="1200" dirty="0"/>
          </a:p>
          <a:p>
            <a:pPr marL="150000" indent="-150000" algn="l">
              <a:spcBef>
                <a:spcPts val="0"/>
              </a:spcBef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detector whose false-alarm rate is stated in advance, even under device drift.</a:t>
            </a:r>
            <a:endParaRPr lang="en-US" sz="1200" dirty="0"/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an open dataset of hardware BB84 attack logs, a reusable scorecard and a live dashboard.</a:t>
            </a:r>
            <a:endParaRPr lang="en-US" sz="1200" dirty="0"/>
          </a:p>
        </p:txBody>
      </p:sp>
      <p:sp>
        <p:nvSpPr>
          <p:cNvPr id="103" name="Novelty"/>
          <p:cNvSpPr txBox="1"/>
          <p:nvPr/>
        </p:nvSpPr>
        <p:spPr>
          <a:xfrm>
            <a:off x="4480560" y="1874520"/>
            <a:ext cx="3931920" cy="2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900" dirty="0"/>
          </a:p>
          <a:p>
            <a:pPr marL="150000" indent="-150000" algn="l">
              <a:spcBef>
                <a:spcPts val="0"/>
              </a:spcBef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Hardware-in-the-loop: 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run as real qubit operations across qubits, 22 hours and three IBM machines.</a:t>
            </a:r>
            <a:endParaRPr lang="en-US" sz="1200" dirty="0"/>
          </a:p>
          <a:p>
            <a:pPr marL="150000" indent="-150000" algn="l">
              <a:spcBef>
                <a:spcPts val="0"/>
              </a:spcBef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calibration: 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reference circuit on the same qubits sets today’s threshold; a permutation test gives one verdict and p-value.</a:t>
            </a:r>
            <a:endParaRPr lang="en-US" sz="1200" dirty="0"/>
          </a:p>
          <a:p>
            <a:pPr marL="150000" indent="-150000" algn="l">
              <a:spcBef>
                <a:spcPts val="0"/>
              </a:spcBef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emulation: 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timing and spin echo on idle qubits, so only Eve differs.</a:t>
            </a:r>
            <a:endParaRPr lang="en-US" sz="1200" dirty="0"/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optical-only attacks (photon-number splitting, blinding) are simulated and labelled.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4" name="Solution"/>
          <p:cNvSpPr txBox="1"/>
          <p:nvPr/>
        </p:nvSpPr>
        <p:spPr>
          <a:xfrm>
            <a:off x="731520" y="1874520"/>
            <a:ext cx="76809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honest BB84 sessions and qubit-level attacks on IBM Quantum hardware, stress-test simulation-trained detectors on that data, and build a detector that stays calibrated under device drift.</a:t>
            </a:r>
            <a:endParaRPr lang="en-US" sz="1100" dirty="0"/>
          </a:p>
        </p:txBody>
      </p:sp>
      <p:sp>
        <p:nvSpPr>
          <p:cNvPr id="105" name="Quantum advantage"/>
          <p:cNvSpPr txBox="1"/>
          <p:nvPr/>
        </p:nvSpPr>
        <p:spPr>
          <a:xfrm>
            <a:off x="731520" y="2380000"/>
            <a:ext cx="3550000" cy="2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</a:t>
            </a:r>
            <a:endParaRPr lang="en-US" sz="900" dirty="0"/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BB84’s security is physical: an eavesdropper’s measurement disturbs the qubits and shows up as errors (QBER). Nirikshak turns that disturbance into a calibrated, per-session alarm on real quantum hardware.</a:t>
            </a:r>
            <a:endParaRPr lang="en-US" sz="1000" dirty="0"/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9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honest calibration circuit on the same qubits (no channel, so Eve cannot touch it) measures today’s noise. Split-conformal calibration sets the alarm threshold, so the false-alarm rate is stated in advance, drift or not, and small attacks are flagged far below 11%.</a:t>
            </a:r>
            <a:endParaRPr lang="en-US" sz="1000" dirty="0"/>
          </a:p>
        </p:txBody>
      </p:sp>
      <p:sp>
        <p:nvSpPr>
          <p:cNvPr id="106" name="Why this works"/>
          <p:cNvSpPr txBox="1"/>
          <p:nvPr/>
        </p:nvSpPr>
        <p:spPr>
          <a:xfrm>
            <a:off x="4480560" y="2380000"/>
            <a:ext cx="3931920" cy="2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900" dirty="0"/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attacks on real qubits: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intercept-resend (full/partial) and an entangling probe, repeated across qubits and time.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Sim-to-hardware stress test: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sim-calibrated QBER threshold, Random Forest and XGBoost tested on drifted simulation, a Kingston snapshot and hardware.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Drift-robust detector: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session’s reference blocks set its own threshold.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emulation: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timing plus spin echo, so only Eve differs.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optical-only attacks are simulated and labelled.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pic>
        <p:nvPicPr>
          <p:cNvPr id="107" name="Nirikshak pipeline diagram" descr="Nirikshak pipeline diagram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4360" y="1817827"/>
            <a:ext cx="4663440" cy="2673705"/>
          </a:xfrm>
          <a:prstGeom prst="rect">
            <a:avLst/>
          </a:prstGeom>
        </p:spPr>
      </p:pic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8" name="Key details"/>
          <p:cNvSpPr txBox="1"/>
          <p:nvPr/>
        </p:nvSpPr>
        <p:spPr>
          <a:xfrm>
            <a:off x="5806440" y="1874520"/>
            <a:ext cx="2651760" cy="2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0000" indent="-150000" algn="l">
              <a:spcBef>
                <a:spcPts val="0"/>
              </a:spcBef>
              <a:spcAft>
                <a:spcPts val="3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bits and bases, 16 rounds per circuit (one per qubit), swept as Sampler V2 parameter bindings.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3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BB84 prepare-and-measure circuits with intercept-resend (random-basis mid-circuit measurement) or an entangling probe (controlled rotation onto Eve’s ancilla).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3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Sampler V2 interface on Aer and IBM hardware; one job = 10 sessions (key + reference circuit); qubits chosen from live calibration.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3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sifting, QBER per basis, basis asymmetry, per-qubit error rates.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verdict and p-value, block alarms, BB84 key rates, Streamlit dashboard.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09" name="Content text"/>
          <p:cNvSpPr txBox="1"/>
          <p:nvPr/>
        </p:nvSpPr>
        <p:spPr>
          <a:xfrm>
            <a:off x="731520" y="1874520"/>
            <a:ext cx="7680960" cy="2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00000" indent="-1500000" algn="l">
              <a:spcBef>
                <a:spcPts val="0"/>
              </a:spcBef>
              <a:spcAft>
                <a:spcPts val="450"/>
              </a:spcAft>
              <a:buNone/>
              <a:tabLst>
                <a:tab pos="1500000" algn="l"/>
              </a:tabLst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Python 3.11+ (developed on 3.12)</a:t>
            </a:r>
            <a:endParaRPr lang="en-US" sz="1200" dirty="0"/>
          </a:p>
          <a:p>
            <a:pPr marL="1500000" indent="-1500000" algn="l">
              <a:spcBef>
                <a:spcPts val="0"/>
              </a:spcBef>
              <a:spcAft>
                <a:spcPts val="450"/>
              </a:spcAft>
              <a:buNone/>
              <a:tabLst>
                <a:tab pos="1500000" algn="l"/>
              </a:tabLst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SDK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Qiskit 2.6.0, Qiskit IBM Runtime 0.50.0 (Sampler V2, job mode)</a:t>
            </a:r>
            <a:endParaRPr lang="en-US" sz="1200" dirty="0"/>
          </a:p>
          <a:p>
            <a:pPr marL="1500000" indent="-1500000" algn="l">
              <a:spcBef>
                <a:spcPts val="0"/>
              </a:spcBef>
              <a:spcAft>
                <a:spcPts val="450"/>
              </a:spcAft>
              <a:buNone/>
              <a:tabLst>
                <a:tab pos="1500000" algn="l"/>
              </a:tabLst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Qiskit Aer 0.18.0 (matrix product state), FakeKingston noise</a:t>
            </a:r>
            <a:endParaRPr lang="en-US" sz="1200" dirty="0"/>
          </a:p>
          <a:p>
            <a:pPr marL="1500000" indent="-1500000" algn="l">
              <a:spcBef>
                <a:spcPts val="0"/>
              </a:spcBef>
              <a:spcAft>
                <a:spcPts val="450"/>
              </a:spcAft>
              <a:buNone/>
              <a:tabLst>
                <a:tab pos="1500000" algn="l"/>
              </a:tabLst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IBM Quantum Open Plan: ibm_kingston, ibm_marrakesh, ibm_fez (Heron r2)</a:t>
            </a:r>
            <a:endParaRPr lang="en-US" sz="1200" dirty="0"/>
          </a:p>
          <a:p>
            <a:pPr marL="1500000" indent="-1500000" algn="l">
              <a:spcBef>
                <a:spcPts val="0"/>
              </a:spcBef>
              <a:spcAft>
                <a:spcPts val="450"/>
              </a:spcAft>
              <a:buNone/>
              <a:tabLst>
                <a:tab pos="1500000" algn="l"/>
              </a:tabLst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scikit-learn 1.9.1, XGBoost 3.4.1</a:t>
            </a:r>
            <a:endParaRPr lang="en-US" sz="1200" dirty="0"/>
          </a:p>
          <a:p>
            <a:pPr marL="1500000" indent="-1500000" algn="l">
              <a:spcBef>
                <a:spcPts val="0"/>
              </a:spcBef>
              <a:spcAft>
                <a:spcPts val="450"/>
              </a:spcAft>
              <a:buNone/>
              <a:tabLst>
                <a:tab pos="1500000" algn="l"/>
              </a:tabLst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11% QBER rule, sim-calibrated threshold, Random Forest, XGBoost, Nirikshak (per-session conformal)</a:t>
            </a:r>
            <a:endParaRPr lang="en-US" sz="1200" dirty="0"/>
          </a:p>
          <a:p>
            <a:pPr marL="1500000" indent="-1500000" algn="l">
              <a:spcBef>
                <a:spcPts val="0"/>
              </a:spcBef>
              <a:spcAft>
                <a:spcPts val="450"/>
              </a:spcAft>
              <a:buNone/>
              <a:tabLst>
                <a:tab pos="1500000" algn="l"/>
              </a:tabLst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Split-conformal thresholds, permutation test (session verdict), Clopper-Pearson intervals (SciPy)</a:t>
            </a:r>
            <a:endParaRPr lang="en-US" sz="1200" dirty="0"/>
          </a:p>
          <a:p>
            <a:pPr marL="1500000" indent="-1500000" algn="l">
              <a:spcBef>
                <a:spcPts val="0"/>
              </a:spcBef>
              <a:spcAft>
                <a:spcPts val="450"/>
              </a:spcAft>
              <a:buNone/>
              <a:tabLst>
                <a:tab pos="1500000" algn="l"/>
              </a:tabLst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React 19 + TypeScript (Vite), hand-built SVG charts, GitHub Pages; Streamlit 1.66.0 dashboard; matplotlib figures</a:t>
            </a:r>
            <a:endParaRPr lang="en-US" sz="1200" dirty="0"/>
          </a:p>
          <a:p>
            <a:pPr marL="1500000" indent="-1500000" algn="l">
              <a:spcBef>
                <a:spcPts val="0"/>
              </a:spcBef>
              <a:spcAft>
                <a:spcPts val="450"/>
              </a:spcAft>
              <a:buNone/>
              <a:tabLst>
                <a:tab pos="1500000" algn="l"/>
              </a:tabLst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pytest, GitHub Actions (tests.yml)</a:t>
            </a:r>
            <a:endParaRPr lang="en-US" sz="1200" dirty="0"/>
          </a:p>
          <a:p>
            <a:pPr marL="1500000" indent="-1500000" algn="l">
              <a:spcBef>
                <a:spcPts val="0"/>
              </a:spcBef>
              <a:spcAft>
                <a:spcPts val="450"/>
              </a:spcAft>
              <a:buNone/>
              <a:tabLst>
                <a:tab pos="1500000" algn="l"/>
              </a:tabLst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r>
              <a:rPr lang="en-US" sz="12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Git + GitHub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pic>
        <p:nvPicPr>
          <p:cNvPr id="110" name="Blocks flagged on ibm_kingston" descr="Blocks flagged on ibm_kingst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4360" y="1794510"/>
            <a:ext cx="4663440" cy="2720340"/>
          </a:xfrm>
          <a:prstGeom prst="rect">
            <a:avLst/>
          </a:prstGeom>
        </p:spPr>
      </p:pic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11" name="Key details"/>
          <p:cNvSpPr txBox="1"/>
          <p:nvPr/>
        </p:nvSpPr>
        <p:spPr>
          <a:xfrm>
            <a:off x="5806440" y="1874520"/>
            <a:ext cx="2651760" cy="2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0000" indent="-150000" algn="l">
              <a:spcBef>
                <a:spcPts val="0"/>
              </a:spcBef>
              <a:spcAft>
                <a:spcPts val="3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ibm_kingston, 3 batches over 22 h: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 attacked sessions flagged (p ≤ 0.0002), 0 of 9 honest.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3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attack (1 of 16 rounds):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QBER only 3.0-3.2%; Nirikshak flags 47% of blocks and every session, the 11% rule 0%.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3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ibm_marrakesh (3.6% noise) and ibm_fez (2.0%):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 attacked sessions flagged on each, nothing retuned.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3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machines: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of 35 attacked, 0 of 15 honest flagged.</a:t>
            </a:r>
            <a:endParaRPr lang="en-US" sz="1000" dirty="0"/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0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noise shift, </a:t>
            </a:r>
            <a:r>
              <a:rPr lang="en-US" sz="10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sim-trained detectors flag up to 88% of honest blocks; Nirikshak’s worst case is 13%.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12" name="Gap"/>
          <p:cNvSpPr txBox="1"/>
          <p:nvPr/>
        </p:nvSpPr>
        <p:spPr>
          <a:xfrm>
            <a:off x="731520" y="1874520"/>
            <a:ext cx="2400000" cy="2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IT FILLS</a:t>
            </a:r>
            <a:endParaRPr lang="en-US" sz="900" dirty="0"/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BB84 can keep producing keys while a partial eavesdropper listens. On ibm_kingston, every attack except 8 of 16 rounds still leaves a positive key rate (0.16-0.61).</a:t>
            </a:r>
            <a:endParaRPr lang="en-US" sz="115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Nirikshak is the missing intrusion-detection layer: the operator learns the link is tapped and can tell an attack from drift.</a:t>
            </a:r>
            <a:endParaRPr lang="en-US" sz="1150" dirty="0"/>
          </a:p>
        </p:txBody>
      </p:sp>
      <p:sp>
        <p:nvSpPr>
          <p:cNvPr id="113" name="Monitor"/>
          <p:cNvSpPr txBox="1"/>
          <p:nvPr/>
        </p:nvSpPr>
        <p:spPr>
          <a:xfrm>
            <a:off x="3371520" y="1874520"/>
            <a:ext cx="2400000" cy="2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 PROTOTYPE</a:t>
            </a:r>
            <a:endParaRPr lang="en-US" sz="900" dirty="0"/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stream of per-block link telemetry (link, time, key or reference, sifted bits, errors). No key material is needed.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1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windows flagged: 5.3% (2,100 windows)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1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tapped on 1 of 16 rounds: 100% flagged after the tap; 11% rule 0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Drifting link: 1.0 false block alarm vs 8.2 for a frozen threshold</a:t>
            </a:r>
            <a:endParaRPr lang="en-US" sz="1150" dirty="0"/>
          </a:p>
        </p:txBody>
      </p:sp>
      <p:sp>
        <p:nvSpPr>
          <p:cNvPr id="114" name="Context"/>
          <p:cNvSpPr txBox="1"/>
          <p:nvPr/>
        </p:nvSpPr>
        <p:spPr>
          <a:xfrm>
            <a:off x="6011520" y="1874520"/>
            <a:ext cx="2400000" cy="2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OUTPUTS</a:t>
            </a:r>
            <a:endParaRPr lang="en-US" sz="900" dirty="0"/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India’s 1,000 km National Quantum Mission QKD network, C-DOT QKD products and DRDO trials.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1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dataset of hardware BB84 attack logs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15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detector scorecard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Streamlit + React web app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15" name="Challenges"/>
          <p:cNvSpPr txBox="1"/>
          <p:nvPr/>
        </p:nvSpPr>
        <p:spPr>
          <a:xfrm>
            <a:off x="731520" y="1874520"/>
            <a:ext cx="3650000" cy="2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artifact: </a:t>
            </a: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 qubits idled during Eve’s measurements, inflating detection to 100%. Excluded; fixed with matched timing.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dephasing: </a:t>
            </a: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QBER 4.2% (X basis 7%) until a spin echo brought it to 1.7%.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Qubit-0 readout failure </a:t>
            </a: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predicted by IBM calibration, so qubits are chosen from live calibration.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</a:t>
            </a: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 quantum time per 28 days, at most 3 queued jobs (73 s used).</a:t>
            </a:r>
            <a:endParaRPr lang="en-US" sz="1150" dirty="0"/>
          </a:p>
        </p:txBody>
      </p:sp>
      <p:sp>
        <p:nvSpPr>
          <p:cNvPr id="116" name="Future scope"/>
          <p:cNvSpPr txBox="1"/>
          <p:nvPr/>
        </p:nvSpPr>
        <p:spPr>
          <a:xfrm>
            <a:off x="4480560" y="1874520"/>
            <a:ext cx="3931920" cy="2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SCOPE</a:t>
            </a:r>
            <a:endParaRPr lang="en-US" sz="900" dirty="0"/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hardware data: </a:t>
            </a: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honest sessions bound the session false-alarm rate only to 0-22%; the 5% claim rests on 600 simulated sessions.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Photonic realism: </a:t>
            </a: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states, detector statistics, finite-key effects; optical attacks are not yet run on hardware.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</a:t>
            </a: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integration for the network monitor, validated beyond simulated binomial links.</a:t>
            </a:r>
            <a:endParaRPr lang="en-US" sz="1150" dirty="0"/>
          </a:p>
          <a:p>
            <a:pPr marL="150000" indent="-150000" algn="l">
              <a:spcBef>
                <a:spcPts val="0"/>
              </a:spcBef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block alarms: </a:t>
            </a:r>
            <a:r>
              <a:rPr lang="en-US" sz="115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up to 15% in one honest session since thresholds use 20 reference blocks.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github.com/vtu-qiskit-fall-fest-2026/vtu-hc-essential-engineers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youtu.be/gO9v1e-yHNs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